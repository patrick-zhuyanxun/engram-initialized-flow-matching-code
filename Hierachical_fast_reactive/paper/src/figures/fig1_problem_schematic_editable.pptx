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320040" y="1828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1900" b="1">
                <a:solidFill>
                  <a:srgbClr val="222222"/>
                </a:solidFill>
                <a:latin typeface="Arial"/>
              </a:rPr>
              <a:t>Gantt view of async action chunks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320040" y="530352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950">
                <a:solidFill>
                  <a:srgbClr val="666666"/>
                </a:solidFill>
                <a:latin typeface="Arial"/>
              </a:rPr>
              <a:t>Planning starts during the tail of the active chunk; execution stays back-to-back, but each segment is open loop.</a:t>
            </a:r>
          </a:p>
        </p:txBody>
      </p:sp>
      <p:sp>
        <p:nvSpPr>
          <p:cNvPr id="4" name="time grid"/>
          <p:cNvSpPr/>
          <p:nvPr/>
        </p:nvSpPr>
        <p:spPr>
          <a:xfrm>
            <a:off x="196596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5" name="time grid"/>
          <p:cNvSpPr/>
          <p:nvPr/>
        </p:nvSpPr>
        <p:spPr>
          <a:xfrm>
            <a:off x="228600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6" name="time grid"/>
          <p:cNvSpPr/>
          <p:nvPr/>
        </p:nvSpPr>
        <p:spPr>
          <a:xfrm>
            <a:off x="260604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7" name="time grid"/>
          <p:cNvSpPr/>
          <p:nvPr/>
        </p:nvSpPr>
        <p:spPr>
          <a:xfrm>
            <a:off x="292608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8" name="time grid"/>
          <p:cNvSpPr/>
          <p:nvPr/>
        </p:nvSpPr>
        <p:spPr>
          <a:xfrm>
            <a:off x="324612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9" name="time grid"/>
          <p:cNvSpPr/>
          <p:nvPr/>
        </p:nvSpPr>
        <p:spPr>
          <a:xfrm>
            <a:off x="356616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0" name="time grid"/>
          <p:cNvSpPr/>
          <p:nvPr/>
        </p:nvSpPr>
        <p:spPr>
          <a:xfrm>
            <a:off x="388620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1" name="time grid"/>
          <p:cNvSpPr/>
          <p:nvPr/>
        </p:nvSpPr>
        <p:spPr>
          <a:xfrm>
            <a:off x="420624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2" name="time grid"/>
          <p:cNvSpPr/>
          <p:nvPr/>
        </p:nvSpPr>
        <p:spPr>
          <a:xfrm>
            <a:off x="452628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3" name="time grid"/>
          <p:cNvSpPr/>
          <p:nvPr/>
        </p:nvSpPr>
        <p:spPr>
          <a:xfrm>
            <a:off x="484632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4" name="time grid"/>
          <p:cNvSpPr/>
          <p:nvPr/>
        </p:nvSpPr>
        <p:spPr>
          <a:xfrm>
            <a:off x="516636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5" name="time grid"/>
          <p:cNvSpPr/>
          <p:nvPr/>
        </p:nvSpPr>
        <p:spPr>
          <a:xfrm>
            <a:off x="548640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6" name="time grid"/>
          <p:cNvSpPr/>
          <p:nvPr/>
        </p:nvSpPr>
        <p:spPr>
          <a:xfrm>
            <a:off x="580644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7" name="time grid"/>
          <p:cNvSpPr/>
          <p:nvPr/>
        </p:nvSpPr>
        <p:spPr>
          <a:xfrm>
            <a:off x="612648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8" name="time grid"/>
          <p:cNvSpPr/>
          <p:nvPr/>
        </p:nvSpPr>
        <p:spPr>
          <a:xfrm>
            <a:off x="644652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19" name="time grid"/>
          <p:cNvSpPr/>
          <p:nvPr/>
        </p:nvSpPr>
        <p:spPr>
          <a:xfrm>
            <a:off x="676656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0" name="time grid"/>
          <p:cNvSpPr/>
          <p:nvPr/>
        </p:nvSpPr>
        <p:spPr>
          <a:xfrm>
            <a:off x="708660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1" name="time grid"/>
          <p:cNvSpPr/>
          <p:nvPr/>
        </p:nvSpPr>
        <p:spPr>
          <a:xfrm>
            <a:off x="740664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2" name="time grid"/>
          <p:cNvSpPr/>
          <p:nvPr/>
        </p:nvSpPr>
        <p:spPr>
          <a:xfrm>
            <a:off x="772668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3" name="time grid"/>
          <p:cNvSpPr/>
          <p:nvPr/>
        </p:nvSpPr>
        <p:spPr>
          <a:xfrm>
            <a:off x="804672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4" name="time grid"/>
          <p:cNvSpPr/>
          <p:nvPr/>
        </p:nvSpPr>
        <p:spPr>
          <a:xfrm>
            <a:off x="836676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5" name="time grid"/>
          <p:cNvSpPr/>
          <p:nvPr/>
        </p:nvSpPr>
        <p:spPr>
          <a:xfrm>
            <a:off x="868680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6" name="time grid"/>
          <p:cNvSpPr/>
          <p:nvPr/>
        </p:nvSpPr>
        <p:spPr>
          <a:xfrm>
            <a:off x="900684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7" name="time grid"/>
          <p:cNvSpPr/>
          <p:nvPr/>
        </p:nvSpPr>
        <p:spPr>
          <a:xfrm>
            <a:off x="932688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8" name="time grid"/>
          <p:cNvSpPr/>
          <p:nvPr/>
        </p:nvSpPr>
        <p:spPr>
          <a:xfrm>
            <a:off x="964692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29" name="time grid"/>
          <p:cNvSpPr/>
          <p:nvPr/>
        </p:nvSpPr>
        <p:spPr>
          <a:xfrm>
            <a:off x="996696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30" name="time grid"/>
          <p:cNvSpPr/>
          <p:nvPr/>
        </p:nvSpPr>
        <p:spPr>
          <a:xfrm>
            <a:off x="1028700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31" name="time grid"/>
          <p:cNvSpPr/>
          <p:nvPr/>
        </p:nvSpPr>
        <p:spPr>
          <a:xfrm>
            <a:off x="1060704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32" name="time grid"/>
          <p:cNvSpPr/>
          <p:nvPr/>
        </p:nvSpPr>
        <p:spPr>
          <a:xfrm>
            <a:off x="10927080" y="914400"/>
            <a:ext cx="320040" cy="5349240"/>
          </a:xfrm>
          <a:prstGeom prst="rect">
            <a:avLst/>
          </a:prstGeom>
          <a:solidFill>
            <a:srgbClr val="F4F4F4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sp>
        <p:nvSpPr>
          <p:cNvPr id="33" name="time grid"/>
          <p:cNvSpPr/>
          <p:nvPr/>
        </p:nvSpPr>
        <p:spPr>
          <a:xfrm>
            <a:off x="11247120" y="914400"/>
            <a:ext cx="320040" cy="534924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6"/>
            </a:solidFill>
          </a:ln>
        </p:spPr>
        <p:txBody>
          <a:bodyPr/>
          <a:lstStyle/>
          <a:p/>
        </p:txBody>
      </p:sp>
      <p:cxnSp>
        <p:nvCxnSpPr>
          <p:cNvPr id="34" name="Line"/>
          <p:cNvCxnSpPr/>
          <p:nvPr/>
        </p:nvCxnSpPr>
        <p:spPr>
          <a:xfrm>
            <a:off x="1874520" y="6355080"/>
            <a:ext cx="9820656" cy="914"/>
          </a:xfrm>
          <a:prstGeom prst="line">
            <a:avLst/>
          </a:prstGeom>
          <a:ln w="12700">
            <a:solidFill>
              <a:srgbClr val="222222"/>
            </a:solidFill>
            <a:tailEnd type="triangle"/>
          </a:ln>
        </p:spPr>
        <p:style/>
        <p:txBody>
          <a:bodyPr/>
          <a:lstStyle/>
          <a:p/>
        </p:txBody>
      </p:cxnSp>
      <p:sp>
        <p:nvSpPr>
          <p:cNvPr id="35" name="Text"/>
          <p:cNvSpPr txBox="1"/>
          <p:nvPr/>
        </p:nvSpPr>
        <p:spPr>
          <a:xfrm>
            <a:off x="1947672" y="641908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</a:rPr>
              <a:t>time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310896" y="128016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1200" b="1">
                <a:solidFill>
                  <a:srgbClr val="222222"/>
                </a:solidFill>
                <a:latin typeface="Arial"/>
              </a:rPr>
              <a:t>chunk A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417320" y="128016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72B2"/>
                </a:solidFill>
                <a:latin typeface="Arial"/>
              </a:rPr>
              <a:t>plan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298448" y="184708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9E73"/>
                </a:solidFill>
                <a:latin typeface="Arial"/>
              </a:rPr>
              <a:t>execute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310896" y="265176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1200" b="1">
                <a:solidFill>
                  <a:srgbClr val="222222"/>
                </a:solidFill>
                <a:latin typeface="Arial"/>
              </a:rPr>
              <a:t>chunk B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417320" y="265176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72B2"/>
                </a:solidFill>
                <a:latin typeface="Arial"/>
              </a:rPr>
              <a:t>plan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1298448" y="321868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9E73"/>
                </a:solidFill>
                <a:latin typeface="Arial"/>
              </a:rPr>
              <a:t>execute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310896" y="402336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1200" b="1">
                <a:solidFill>
                  <a:srgbClr val="222222"/>
                </a:solidFill>
                <a:latin typeface="Arial"/>
              </a:rPr>
              <a:t>chunk C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417320" y="402336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72B2"/>
                </a:solidFill>
                <a:latin typeface="Arial"/>
              </a:rPr>
              <a:t>plan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298448" y="4590288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9E73"/>
                </a:solidFill>
                <a:latin typeface="Arial"/>
              </a:rPr>
              <a:t>execute</a:t>
            </a:r>
          </a:p>
        </p:txBody>
      </p:sp>
      <p:cxnSp>
        <p:nvCxnSpPr>
          <p:cNvPr id="45" name="Line"/>
          <p:cNvCxnSpPr/>
          <p:nvPr/>
        </p:nvCxnSpPr>
        <p:spPr>
          <a:xfrm>
            <a:off x="2761488" y="786384"/>
            <a:ext cx="1261872" cy="914"/>
          </a:xfrm>
          <a:prstGeom prst="line">
            <a:avLst/>
          </a:prstGeom>
          <a:ln w="17780">
            <a:solidFill>
              <a:srgbClr val="D55E00"/>
            </a:solidFill>
            <a:tailEnd type="triangle"/>
            <a:headEnd type="triangle"/>
          </a:ln>
        </p:spPr>
        <p:style/>
        <p:txBody>
          <a:bodyPr/>
          <a:lstStyle/>
          <a:p/>
        </p:txBody>
      </p:cxnSp>
      <p:sp>
        <p:nvSpPr>
          <p:cNvPr id="46" name="Text"/>
          <p:cNvSpPr txBox="1"/>
          <p:nvPr/>
        </p:nvSpPr>
        <p:spPr>
          <a:xfrm>
            <a:off x="3163824" y="80467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900" b="1">
                <a:solidFill>
                  <a:srgbClr val="D55E00"/>
                </a:solidFill>
                <a:latin typeface="Arial"/>
              </a:rPr>
              <a:t>d</a:t>
            </a:r>
          </a:p>
        </p:txBody>
      </p:sp>
      <p:cxnSp>
        <p:nvCxnSpPr>
          <p:cNvPr id="47" name="Line"/>
          <p:cNvCxnSpPr/>
          <p:nvPr/>
        </p:nvCxnSpPr>
        <p:spPr>
          <a:xfrm>
            <a:off x="4251960" y="1078992"/>
            <a:ext cx="2560320" cy="914"/>
          </a:xfrm>
          <a:prstGeom prst="line">
            <a:avLst/>
          </a:prstGeom>
          <a:ln w="17780">
            <a:solidFill>
              <a:srgbClr val="0072B2"/>
            </a:solidFill>
            <a:tailEnd type="triangle"/>
            <a:headEnd type="triangle"/>
          </a:ln>
        </p:spPr>
        <p:style/>
        <p:txBody>
          <a:bodyPr/>
          <a:lstStyle/>
          <a:p/>
        </p:txBody>
      </p:cxnSp>
      <p:sp>
        <p:nvSpPr>
          <p:cNvPr id="48" name="Text"/>
          <p:cNvSpPr txBox="1"/>
          <p:nvPr/>
        </p:nvSpPr>
        <p:spPr>
          <a:xfrm>
            <a:off x="5303520" y="86868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900" b="1">
                <a:solidFill>
                  <a:srgbClr val="0072B2"/>
                </a:solidFill>
                <a:latin typeface="Arial"/>
              </a:rPr>
              <a:t>H</a:t>
            </a:r>
          </a:p>
        </p:txBody>
      </p:sp>
      <p:sp>
        <p:nvSpPr>
          <p:cNvPr id="49" name="planned horizon cell"/>
          <p:cNvSpPr/>
          <p:nvPr/>
        </p:nvSpPr>
        <p:spPr>
          <a:xfrm>
            <a:off x="4251960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0" name="planned horizon cell"/>
          <p:cNvSpPr/>
          <p:nvPr/>
        </p:nvSpPr>
        <p:spPr>
          <a:xfrm>
            <a:off x="4507992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1" name="planned horizon cell"/>
          <p:cNvSpPr/>
          <p:nvPr/>
        </p:nvSpPr>
        <p:spPr>
          <a:xfrm>
            <a:off x="4764024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2" name="planned horizon cell"/>
          <p:cNvSpPr/>
          <p:nvPr/>
        </p:nvSpPr>
        <p:spPr>
          <a:xfrm>
            <a:off x="5020056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3" name="planned horizon cell"/>
          <p:cNvSpPr/>
          <p:nvPr/>
        </p:nvSpPr>
        <p:spPr>
          <a:xfrm>
            <a:off x="5276088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4" name="planned horizon cell"/>
          <p:cNvSpPr/>
          <p:nvPr/>
        </p:nvSpPr>
        <p:spPr>
          <a:xfrm>
            <a:off x="5532120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5" name="planned horizon cell"/>
          <p:cNvSpPr/>
          <p:nvPr/>
        </p:nvSpPr>
        <p:spPr>
          <a:xfrm>
            <a:off x="5788152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6" name="planned horizon cell"/>
          <p:cNvSpPr/>
          <p:nvPr/>
        </p:nvSpPr>
        <p:spPr>
          <a:xfrm>
            <a:off x="6044184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7" name="planned horizon cell"/>
          <p:cNvSpPr/>
          <p:nvPr/>
        </p:nvSpPr>
        <p:spPr>
          <a:xfrm>
            <a:off x="6300216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58" name="planned horizon cell"/>
          <p:cNvSpPr/>
          <p:nvPr/>
        </p:nvSpPr>
        <p:spPr>
          <a:xfrm>
            <a:off x="6556248" y="1170432"/>
            <a:ext cx="256032" cy="164592"/>
          </a:xfrm>
          <a:prstGeom prst="rect">
            <a:avLst/>
          </a:prstGeom>
          <a:solidFill>
            <a:srgbClr val="EFF7FF"/>
          </a:solidFill>
          <a:ln w="7620">
            <a:solidFill>
              <a:srgbClr val="0072B2"/>
            </a:solidFill>
          </a:ln>
        </p:spPr>
        <p:txBody>
          <a:bodyPr/>
          <a:lstStyle/>
          <a:p/>
        </p:txBody>
      </p:sp>
      <p:cxnSp>
        <p:nvCxnSpPr>
          <p:cNvPr id="59" name="Line"/>
          <p:cNvCxnSpPr/>
          <p:nvPr/>
        </p:nvCxnSpPr>
        <p:spPr>
          <a:xfrm>
            <a:off x="5394960" y="841248"/>
            <a:ext cx="2926080" cy="914"/>
          </a:xfrm>
          <a:prstGeom prst="line">
            <a:avLst/>
          </a:prstGeom>
          <a:ln w="17780">
            <a:solidFill>
              <a:srgbClr val="CC79A7"/>
            </a:solidFill>
            <a:tailEnd type="triangle"/>
            <a:headEnd type="triangle"/>
          </a:ln>
        </p:spPr>
        <p:style/>
        <p:txBody>
          <a:bodyPr/>
          <a:lstStyle/>
          <a:p/>
        </p:txBody>
      </p:cxnSp>
      <p:sp>
        <p:nvSpPr>
          <p:cNvPr id="60" name="Text"/>
          <p:cNvSpPr txBox="1"/>
          <p:nvPr/>
        </p:nvSpPr>
        <p:spPr>
          <a:xfrm>
            <a:off x="6629400" y="63093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900" b="1">
                <a:solidFill>
                  <a:srgbClr val="CC79A7"/>
                </a:solidFill>
                <a:latin typeface="Arial"/>
              </a:rPr>
              <a:t>K</a:t>
            </a:r>
          </a:p>
        </p:txBody>
      </p:sp>
      <p:sp>
        <p:nvSpPr>
          <p:cNvPr id="61" name="tail overlap B planning"/>
          <p:cNvSpPr/>
          <p:nvPr/>
        </p:nvSpPr>
        <p:spPr>
          <a:xfrm>
            <a:off x="5394960" y="1737360"/>
            <a:ext cx="1783080" cy="585216"/>
          </a:xfrm>
          <a:prstGeom prst="rect">
            <a:avLst/>
          </a:prstGeom>
          <a:solidFill>
            <a:srgbClr val="E8F4FB">
              <a:alpha val="35000"/>
            </a:srgbClr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cxnSp>
        <p:nvCxnSpPr>
          <p:cNvPr id="62" name="Line"/>
          <p:cNvCxnSpPr/>
          <p:nvPr/>
        </p:nvCxnSpPr>
        <p:spPr>
          <a:xfrm>
            <a:off x="5394960" y="1645920"/>
            <a:ext cx="914" cy="758952"/>
          </a:xfrm>
          <a:prstGeom prst="line">
            <a:avLst/>
          </a:prstGeom>
          <a:ln w="10160">
            <a:solidFill>
              <a:srgbClr val="0072B2"/>
            </a:solidFill>
            <a:prstDash val="dash"/>
          </a:ln>
        </p:spPr>
        <p:style/>
        <p:txBody>
          <a:bodyPr/>
          <a:lstStyle/>
          <a:p/>
        </p:txBody>
      </p:cxnSp>
      <p:cxnSp>
        <p:nvCxnSpPr>
          <p:cNvPr id="63" name="Line"/>
          <p:cNvCxnSpPr/>
          <p:nvPr/>
        </p:nvCxnSpPr>
        <p:spPr>
          <a:xfrm>
            <a:off x="7178040" y="1645920"/>
            <a:ext cx="914" cy="758952"/>
          </a:xfrm>
          <a:prstGeom prst="line">
            <a:avLst/>
          </a:prstGeom>
          <a:ln w="10160">
            <a:solidFill>
              <a:srgbClr val="0072B2"/>
            </a:solidFill>
            <a:prstDash val="dash"/>
          </a:ln>
        </p:spPr>
        <p:style/>
        <p:txBody>
          <a:bodyPr/>
          <a:lstStyle/>
          <a:p/>
        </p:txBody>
      </p:cxnSp>
      <p:sp>
        <p:nvSpPr>
          <p:cNvPr id="64" name="Text"/>
          <p:cNvSpPr txBox="1"/>
          <p:nvPr/>
        </p:nvSpPr>
        <p:spPr>
          <a:xfrm>
            <a:off x="5413248" y="1591056"/>
            <a:ext cx="17465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72B2"/>
                </a:solidFill>
                <a:latin typeface="Arial"/>
              </a:rPr>
              <a:t>tail-overlap planning</a:t>
            </a:r>
          </a:p>
        </p:txBody>
      </p:sp>
      <p:sp>
        <p:nvSpPr>
          <p:cNvPr id="65" name="tail overlap C planning"/>
          <p:cNvSpPr/>
          <p:nvPr/>
        </p:nvSpPr>
        <p:spPr>
          <a:xfrm>
            <a:off x="8321040" y="3108960"/>
            <a:ext cx="1783080" cy="585216"/>
          </a:xfrm>
          <a:prstGeom prst="rect">
            <a:avLst/>
          </a:prstGeom>
          <a:solidFill>
            <a:srgbClr val="E8F4FB">
              <a:alpha val="35000"/>
            </a:srgbClr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cxnSp>
        <p:nvCxnSpPr>
          <p:cNvPr id="66" name="Line"/>
          <p:cNvCxnSpPr/>
          <p:nvPr/>
        </p:nvCxnSpPr>
        <p:spPr>
          <a:xfrm>
            <a:off x="8321040" y="3017520"/>
            <a:ext cx="914" cy="758952"/>
          </a:xfrm>
          <a:prstGeom prst="line">
            <a:avLst/>
          </a:prstGeom>
          <a:ln w="10160">
            <a:solidFill>
              <a:srgbClr val="0072B2"/>
            </a:solidFill>
            <a:prstDash val="dash"/>
          </a:ln>
        </p:spPr>
        <p:style/>
        <p:txBody>
          <a:bodyPr/>
          <a:lstStyle/>
          <a:p/>
        </p:txBody>
      </p:cxnSp>
      <p:cxnSp>
        <p:nvCxnSpPr>
          <p:cNvPr id="67" name="Line"/>
          <p:cNvCxnSpPr/>
          <p:nvPr/>
        </p:nvCxnSpPr>
        <p:spPr>
          <a:xfrm>
            <a:off x="10104120" y="3017520"/>
            <a:ext cx="914" cy="758952"/>
          </a:xfrm>
          <a:prstGeom prst="line">
            <a:avLst/>
          </a:prstGeom>
          <a:ln w="10160">
            <a:solidFill>
              <a:srgbClr val="0072B2"/>
            </a:solidFill>
            <a:prstDash val="dash"/>
          </a:ln>
        </p:spPr>
        <p:style/>
        <p:txBody>
          <a:bodyPr/>
          <a:lstStyle/>
          <a:p/>
        </p:txBody>
      </p:cxnSp>
      <p:sp>
        <p:nvSpPr>
          <p:cNvPr id="68" name="Text"/>
          <p:cNvSpPr txBox="1"/>
          <p:nvPr/>
        </p:nvSpPr>
        <p:spPr>
          <a:xfrm>
            <a:off x="8339328" y="2962656"/>
            <a:ext cx="17465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72B2"/>
                </a:solidFill>
                <a:latin typeface="Arial"/>
              </a:rPr>
              <a:t>tail-overlap planning</a:t>
            </a:r>
          </a:p>
        </p:txBody>
      </p:sp>
      <p:sp>
        <p:nvSpPr>
          <p:cNvPr id="69" name="Block"/>
          <p:cNvSpPr/>
          <p:nvPr/>
        </p:nvSpPr>
        <p:spPr>
          <a:xfrm>
            <a:off x="2057400" y="1225296"/>
            <a:ext cx="566928" cy="384048"/>
          </a:xfrm>
          <a:prstGeom prst="roundRect">
            <a:avLst/>
          </a:prstGeom>
          <a:solidFill>
            <a:srgbClr val="FFF4D6"/>
          </a:solidFill>
          <a:ln w="21590">
            <a:solidFill>
              <a:srgbClr val="E69F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observe</a:t>
            </a:r>
          </a:p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scene</a:t>
            </a:r>
          </a:p>
        </p:txBody>
      </p:sp>
      <p:sp>
        <p:nvSpPr>
          <p:cNvPr id="70" name="Block"/>
          <p:cNvSpPr/>
          <p:nvPr/>
        </p:nvSpPr>
        <p:spPr>
          <a:xfrm>
            <a:off x="2761488" y="1225296"/>
            <a:ext cx="804672" cy="384048"/>
          </a:xfrm>
          <a:prstGeom prst="roundRect">
            <a:avLst/>
          </a:prstGeom>
          <a:solidFill>
            <a:srgbClr val="DBEAFE"/>
          </a:solidFill>
          <a:ln w="2159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SmolVLA</a:t>
            </a:r>
          </a:p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71" name="Block"/>
          <p:cNvSpPr/>
          <p:nvPr/>
        </p:nvSpPr>
        <p:spPr>
          <a:xfrm>
            <a:off x="3566160" y="1225296"/>
            <a:ext cx="603504" cy="384048"/>
          </a:xfrm>
          <a:prstGeom prst="roundRect">
            <a:avLst/>
          </a:prstGeom>
          <a:solidFill>
            <a:srgbClr val="EAF7EE"/>
          </a:solidFill>
          <a:ln w="2159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00" b="1">
                <a:solidFill>
                  <a:srgbClr val="222222"/>
                </a:solidFill>
                <a:latin typeface="Arial"/>
              </a:rPr>
              <a:t>chunk A</a:t>
            </a:r>
          </a:p>
          <a:p>
            <a:pPr algn="ctr"/>
            <a:r>
              <a:rPr lang="en-US" sz="700" b="1">
                <a:solidFill>
                  <a:srgbClr val="222222"/>
                </a:solidFill>
                <a:latin typeface="Arial"/>
              </a:rPr>
              <a:t>ready</a:t>
            </a:r>
          </a:p>
        </p:txBody>
      </p:sp>
      <p:sp>
        <p:nvSpPr>
          <p:cNvPr id="72" name="Block"/>
          <p:cNvSpPr/>
          <p:nvPr/>
        </p:nvSpPr>
        <p:spPr>
          <a:xfrm>
            <a:off x="5394960" y="2596896"/>
            <a:ext cx="566928" cy="384048"/>
          </a:xfrm>
          <a:prstGeom prst="roundRect">
            <a:avLst/>
          </a:prstGeom>
          <a:solidFill>
            <a:srgbClr val="FFF4D6"/>
          </a:solidFill>
          <a:ln w="21590">
            <a:solidFill>
              <a:srgbClr val="E69F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request</a:t>
            </a:r>
          </a:p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73" name="Block"/>
          <p:cNvSpPr/>
          <p:nvPr/>
        </p:nvSpPr>
        <p:spPr>
          <a:xfrm>
            <a:off x="5998464" y="2596896"/>
            <a:ext cx="722376" cy="384048"/>
          </a:xfrm>
          <a:prstGeom prst="roundRect">
            <a:avLst/>
          </a:prstGeom>
          <a:solidFill>
            <a:srgbClr val="DBEAFE"/>
          </a:solidFill>
          <a:ln w="2159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SmolVLA</a:t>
            </a:r>
          </a:p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74" name="Block"/>
          <p:cNvSpPr/>
          <p:nvPr/>
        </p:nvSpPr>
        <p:spPr>
          <a:xfrm>
            <a:off x="6720840" y="2596896"/>
            <a:ext cx="603504" cy="384048"/>
          </a:xfrm>
          <a:prstGeom prst="roundRect">
            <a:avLst/>
          </a:prstGeom>
          <a:solidFill>
            <a:srgbClr val="EAF7EE"/>
          </a:solidFill>
          <a:ln w="2159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00" b="1">
                <a:solidFill>
                  <a:srgbClr val="222222"/>
                </a:solidFill>
                <a:latin typeface="Arial"/>
              </a:rPr>
              <a:t>chunk B</a:t>
            </a:r>
          </a:p>
          <a:p>
            <a:pPr algn="ctr"/>
            <a:r>
              <a:rPr lang="en-US" sz="700" b="1">
                <a:solidFill>
                  <a:srgbClr val="222222"/>
                </a:solidFill>
                <a:latin typeface="Arial"/>
              </a:rPr>
              <a:t>ready</a:t>
            </a:r>
          </a:p>
        </p:txBody>
      </p:sp>
      <p:sp>
        <p:nvSpPr>
          <p:cNvPr id="75" name="Block"/>
          <p:cNvSpPr/>
          <p:nvPr/>
        </p:nvSpPr>
        <p:spPr>
          <a:xfrm>
            <a:off x="8321040" y="3968496"/>
            <a:ext cx="566928" cy="384048"/>
          </a:xfrm>
          <a:prstGeom prst="roundRect">
            <a:avLst/>
          </a:prstGeom>
          <a:solidFill>
            <a:srgbClr val="FFF4D6"/>
          </a:solidFill>
          <a:ln w="21590">
            <a:solidFill>
              <a:srgbClr val="E69F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request</a:t>
            </a:r>
          </a:p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76" name="Block"/>
          <p:cNvSpPr/>
          <p:nvPr/>
        </p:nvSpPr>
        <p:spPr>
          <a:xfrm>
            <a:off x="8924544" y="3968496"/>
            <a:ext cx="722376" cy="384048"/>
          </a:xfrm>
          <a:prstGeom prst="roundRect">
            <a:avLst/>
          </a:prstGeom>
          <a:solidFill>
            <a:srgbClr val="DBEAFE"/>
          </a:solidFill>
          <a:ln w="2159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SmolVLA</a:t>
            </a:r>
          </a:p>
          <a:p>
            <a:pPr algn="ctr"/>
            <a:r>
              <a:rPr lang="en-US" sz="720" b="1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77" name="Block"/>
          <p:cNvSpPr/>
          <p:nvPr/>
        </p:nvSpPr>
        <p:spPr>
          <a:xfrm>
            <a:off x="9646920" y="3968496"/>
            <a:ext cx="603504" cy="384048"/>
          </a:xfrm>
          <a:prstGeom prst="roundRect">
            <a:avLst/>
          </a:prstGeom>
          <a:solidFill>
            <a:srgbClr val="EAF7EE"/>
          </a:solidFill>
          <a:ln w="2159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00" b="1">
                <a:solidFill>
                  <a:srgbClr val="222222"/>
                </a:solidFill>
                <a:latin typeface="Arial"/>
              </a:rPr>
              <a:t>chunk C</a:t>
            </a:r>
          </a:p>
          <a:p>
            <a:pPr algn="ctr"/>
            <a:r>
              <a:rPr lang="en-US" sz="700" b="1">
                <a:solidFill>
                  <a:srgbClr val="222222"/>
                </a:solidFill>
                <a:latin typeface="Arial"/>
              </a:rPr>
              <a:t>ready</a:t>
            </a:r>
          </a:p>
        </p:txBody>
      </p:sp>
      <p:sp>
        <p:nvSpPr>
          <p:cNvPr id="78" name="execute A step 1"/>
          <p:cNvSpPr/>
          <p:nvPr/>
        </p:nvSpPr>
        <p:spPr>
          <a:xfrm>
            <a:off x="425196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79" name="execute A step 2"/>
          <p:cNvSpPr/>
          <p:nvPr/>
        </p:nvSpPr>
        <p:spPr>
          <a:xfrm>
            <a:off x="461772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0" name="execute A step 3"/>
          <p:cNvSpPr/>
          <p:nvPr/>
        </p:nvSpPr>
        <p:spPr>
          <a:xfrm>
            <a:off x="498348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1" name="execute A step 4"/>
          <p:cNvSpPr/>
          <p:nvPr/>
        </p:nvSpPr>
        <p:spPr>
          <a:xfrm>
            <a:off x="534924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2" name="execute A step 5"/>
          <p:cNvSpPr/>
          <p:nvPr/>
        </p:nvSpPr>
        <p:spPr>
          <a:xfrm>
            <a:off x="571500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3" name="execute A step 6"/>
          <p:cNvSpPr/>
          <p:nvPr/>
        </p:nvSpPr>
        <p:spPr>
          <a:xfrm>
            <a:off x="608076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4" name="execute A step 7"/>
          <p:cNvSpPr/>
          <p:nvPr/>
        </p:nvSpPr>
        <p:spPr>
          <a:xfrm>
            <a:off x="644652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5" name="execute A step 8"/>
          <p:cNvSpPr/>
          <p:nvPr/>
        </p:nvSpPr>
        <p:spPr>
          <a:xfrm>
            <a:off x="6812280" y="17922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6" name="execute A outline"/>
          <p:cNvSpPr/>
          <p:nvPr/>
        </p:nvSpPr>
        <p:spPr>
          <a:xfrm>
            <a:off x="4251960" y="1792224"/>
            <a:ext cx="2926080" cy="402336"/>
          </a:xfrm>
          <a:prstGeom prst="rect">
            <a:avLst/>
          </a:prstGeom>
          <a:noFill/>
          <a:ln w="22860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87" name="Text"/>
          <p:cNvSpPr txBox="1"/>
          <p:nvPr/>
        </p:nvSpPr>
        <p:spPr>
          <a:xfrm>
            <a:off x="4251960" y="188366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execute A</a:t>
            </a:r>
          </a:p>
        </p:txBody>
      </p:sp>
      <p:sp>
        <p:nvSpPr>
          <p:cNvPr id="88" name="Text"/>
          <p:cNvSpPr txBox="1"/>
          <p:nvPr/>
        </p:nvSpPr>
        <p:spPr>
          <a:xfrm>
            <a:off x="4279392" y="2048256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5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89" name="Text"/>
          <p:cNvSpPr txBox="1"/>
          <p:nvPr/>
        </p:nvSpPr>
        <p:spPr>
          <a:xfrm>
            <a:off x="6922008" y="2048256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5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90" name="execute B step 1"/>
          <p:cNvSpPr/>
          <p:nvPr/>
        </p:nvSpPr>
        <p:spPr>
          <a:xfrm>
            <a:off x="717804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1" name="execute B step 2"/>
          <p:cNvSpPr/>
          <p:nvPr/>
        </p:nvSpPr>
        <p:spPr>
          <a:xfrm>
            <a:off x="754380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2" name="execute B step 3"/>
          <p:cNvSpPr/>
          <p:nvPr/>
        </p:nvSpPr>
        <p:spPr>
          <a:xfrm>
            <a:off x="790956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3" name="execute B step 4"/>
          <p:cNvSpPr/>
          <p:nvPr/>
        </p:nvSpPr>
        <p:spPr>
          <a:xfrm>
            <a:off x="827532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4" name="execute B step 5"/>
          <p:cNvSpPr/>
          <p:nvPr/>
        </p:nvSpPr>
        <p:spPr>
          <a:xfrm>
            <a:off x="864108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5" name="execute B step 6"/>
          <p:cNvSpPr/>
          <p:nvPr/>
        </p:nvSpPr>
        <p:spPr>
          <a:xfrm>
            <a:off x="900684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6" name="execute B step 7"/>
          <p:cNvSpPr/>
          <p:nvPr/>
        </p:nvSpPr>
        <p:spPr>
          <a:xfrm>
            <a:off x="937260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7" name="execute B step 8"/>
          <p:cNvSpPr/>
          <p:nvPr/>
        </p:nvSpPr>
        <p:spPr>
          <a:xfrm>
            <a:off x="9738360" y="3163824"/>
            <a:ext cx="365760" cy="402336"/>
          </a:xfrm>
          <a:prstGeom prst="rect">
            <a:avLst/>
          </a:prstGeom>
          <a:solidFill>
            <a:srgbClr val="DFF1DF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8" name="execute B outline"/>
          <p:cNvSpPr/>
          <p:nvPr/>
        </p:nvSpPr>
        <p:spPr>
          <a:xfrm>
            <a:off x="7178040" y="3163824"/>
            <a:ext cx="2926080" cy="402336"/>
          </a:xfrm>
          <a:prstGeom prst="rect">
            <a:avLst/>
          </a:prstGeom>
          <a:noFill/>
          <a:ln w="22860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99" name="Text"/>
          <p:cNvSpPr txBox="1"/>
          <p:nvPr/>
        </p:nvSpPr>
        <p:spPr>
          <a:xfrm>
            <a:off x="7178040" y="325526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execute B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7205472" y="3419856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5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101" name="Text"/>
          <p:cNvSpPr txBox="1"/>
          <p:nvPr/>
        </p:nvSpPr>
        <p:spPr>
          <a:xfrm>
            <a:off x="9848088" y="3419856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5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102" name="future C step 1"/>
          <p:cNvSpPr/>
          <p:nvPr/>
        </p:nvSpPr>
        <p:spPr>
          <a:xfrm>
            <a:off x="10104120" y="4535424"/>
            <a:ext cx="335280" cy="402336"/>
          </a:xfrm>
          <a:prstGeom prst="rect">
            <a:avLst/>
          </a:prstGeom>
          <a:solidFill>
            <a:srgbClr val="F7FFF7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3" name="future C step 2"/>
          <p:cNvSpPr/>
          <p:nvPr/>
        </p:nvSpPr>
        <p:spPr>
          <a:xfrm>
            <a:off x="10439400" y="4535424"/>
            <a:ext cx="335280" cy="402336"/>
          </a:xfrm>
          <a:prstGeom prst="rect">
            <a:avLst/>
          </a:prstGeom>
          <a:solidFill>
            <a:srgbClr val="F7FFF7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4" name="future C step 3"/>
          <p:cNvSpPr/>
          <p:nvPr/>
        </p:nvSpPr>
        <p:spPr>
          <a:xfrm>
            <a:off x="10774680" y="4535424"/>
            <a:ext cx="335280" cy="402336"/>
          </a:xfrm>
          <a:prstGeom prst="rect">
            <a:avLst/>
          </a:prstGeom>
          <a:solidFill>
            <a:srgbClr val="F7FFF7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5" name="future C step 4"/>
          <p:cNvSpPr/>
          <p:nvPr/>
        </p:nvSpPr>
        <p:spPr>
          <a:xfrm>
            <a:off x="11109960" y="4535424"/>
            <a:ext cx="335280" cy="402336"/>
          </a:xfrm>
          <a:prstGeom prst="rect">
            <a:avLst/>
          </a:prstGeom>
          <a:solidFill>
            <a:srgbClr val="F7FFF7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6" name="future C step 5"/>
          <p:cNvSpPr/>
          <p:nvPr/>
        </p:nvSpPr>
        <p:spPr>
          <a:xfrm>
            <a:off x="11445240" y="4535424"/>
            <a:ext cx="335280" cy="402336"/>
          </a:xfrm>
          <a:prstGeom prst="rect">
            <a:avLst/>
          </a:prstGeom>
          <a:solidFill>
            <a:srgbClr val="F7FFF7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7" name="future C step 6"/>
          <p:cNvSpPr/>
          <p:nvPr/>
        </p:nvSpPr>
        <p:spPr>
          <a:xfrm>
            <a:off x="11780520" y="4535424"/>
            <a:ext cx="335280" cy="402336"/>
          </a:xfrm>
          <a:prstGeom prst="rect">
            <a:avLst/>
          </a:prstGeom>
          <a:solidFill>
            <a:srgbClr val="F7FFF7"/>
          </a:solidFill>
          <a:ln w="9525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8" name="future C outline"/>
          <p:cNvSpPr/>
          <p:nvPr/>
        </p:nvSpPr>
        <p:spPr>
          <a:xfrm>
            <a:off x="10104120" y="4535424"/>
            <a:ext cx="2011680" cy="402336"/>
          </a:xfrm>
          <a:prstGeom prst="rect">
            <a:avLst/>
          </a:prstGeom>
          <a:noFill/>
          <a:ln w="22860">
            <a:solidFill>
              <a:srgbClr val="009E73"/>
            </a:solidFill>
          </a:ln>
        </p:spPr>
        <p:txBody>
          <a:bodyPr/>
          <a:lstStyle/>
          <a:p/>
        </p:txBody>
      </p:sp>
      <p:sp>
        <p:nvSpPr>
          <p:cNvPr id="109" name="Text"/>
          <p:cNvSpPr txBox="1"/>
          <p:nvPr/>
        </p:nvSpPr>
        <p:spPr>
          <a:xfrm>
            <a:off x="10104120" y="46268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future C</a:t>
            </a:r>
          </a:p>
        </p:txBody>
      </p:sp>
      <p:sp>
        <p:nvSpPr>
          <p:cNvPr id="110" name="Text"/>
          <p:cNvSpPr txBox="1"/>
          <p:nvPr/>
        </p:nvSpPr>
        <p:spPr>
          <a:xfrm>
            <a:off x="10131552" y="4791456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5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11859768" y="4791456"/>
            <a:ext cx="228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5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cxnSp>
        <p:nvCxnSpPr>
          <p:cNvPr id="112" name="Line"/>
          <p:cNvCxnSpPr/>
          <p:nvPr/>
        </p:nvCxnSpPr>
        <p:spPr>
          <a:xfrm>
            <a:off x="4251960" y="2414016"/>
            <a:ext cx="2926080" cy="914"/>
          </a:xfrm>
          <a:prstGeom prst="line">
            <a:avLst/>
          </a:prstGeom>
          <a:ln w="17780">
            <a:solidFill>
              <a:srgbClr val="009E73"/>
            </a:solidFill>
            <a:tailEnd type="triangle"/>
            <a:headEnd type="triangle"/>
          </a:ln>
        </p:spPr>
        <p:style/>
        <p:txBody>
          <a:bodyPr/>
          <a:lstStyle/>
          <a:p/>
        </p:txBody>
      </p:cxnSp>
      <p:sp>
        <p:nvSpPr>
          <p:cNvPr id="113" name="Text"/>
          <p:cNvSpPr txBox="1"/>
          <p:nvPr/>
        </p:nvSpPr>
        <p:spPr>
          <a:xfrm>
            <a:off x="5063490" y="2212848"/>
            <a:ext cx="13030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80" b="1">
                <a:solidFill>
                  <a:srgbClr val="009E73"/>
                </a:solidFill>
                <a:latin typeface="Arial"/>
              </a:rPr>
              <a:t>e=8 open-loop steps</a:t>
            </a:r>
          </a:p>
        </p:txBody>
      </p:sp>
      <p:cxnSp>
        <p:nvCxnSpPr>
          <p:cNvPr id="114" name="Line"/>
          <p:cNvCxnSpPr/>
          <p:nvPr/>
        </p:nvCxnSpPr>
        <p:spPr>
          <a:xfrm>
            <a:off x="7178040" y="3785616"/>
            <a:ext cx="2926080" cy="914"/>
          </a:xfrm>
          <a:prstGeom prst="line">
            <a:avLst/>
          </a:prstGeom>
          <a:ln w="17780">
            <a:solidFill>
              <a:srgbClr val="009E73"/>
            </a:solidFill>
            <a:tailEnd type="triangle"/>
            <a:headEnd type="triangle"/>
          </a:ln>
        </p:spPr>
        <p:style/>
        <p:txBody>
          <a:bodyPr/>
          <a:lstStyle/>
          <a:p/>
        </p:txBody>
      </p:cxnSp>
      <p:sp>
        <p:nvSpPr>
          <p:cNvPr id="115" name="Text"/>
          <p:cNvSpPr txBox="1"/>
          <p:nvPr/>
        </p:nvSpPr>
        <p:spPr>
          <a:xfrm>
            <a:off x="7989570" y="3584448"/>
            <a:ext cx="13030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80" b="1">
                <a:solidFill>
                  <a:srgbClr val="009E73"/>
                </a:solidFill>
                <a:latin typeface="Arial"/>
              </a:rPr>
              <a:t>e=8 open-loop steps</a:t>
            </a:r>
          </a:p>
        </p:txBody>
      </p:sp>
      <p:sp>
        <p:nvSpPr>
          <p:cNvPr id="116" name="Text"/>
          <p:cNvSpPr txBox="1"/>
          <p:nvPr/>
        </p:nvSpPr>
        <p:spPr>
          <a:xfrm>
            <a:off x="7214616" y="294436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00">
                <a:solidFill>
                  <a:srgbClr val="222222"/>
                </a:solidFill>
                <a:latin typeface="Arial"/>
              </a:rPr>
              <a:t>no gap</a:t>
            </a:r>
          </a:p>
        </p:txBody>
      </p:sp>
      <p:sp>
        <p:nvSpPr>
          <p:cNvPr id="117" name="Text"/>
          <p:cNvSpPr txBox="1"/>
          <p:nvPr/>
        </p:nvSpPr>
        <p:spPr>
          <a:xfrm>
            <a:off x="10140696" y="431596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00">
                <a:solidFill>
                  <a:srgbClr val="222222"/>
                </a:solidFill>
                <a:latin typeface="Arial"/>
              </a:rPr>
              <a:t>no gap</a:t>
            </a:r>
          </a:p>
        </p:txBody>
      </p:sp>
      <p:sp>
        <p:nvSpPr>
          <p:cNvPr id="118" name="Text"/>
          <p:cNvSpPr txBox="1"/>
          <p:nvPr/>
        </p:nvSpPr>
        <p:spPr>
          <a:xfrm>
            <a:off x="10195560" y="50474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50" b="1">
                <a:solidFill>
                  <a:srgbClr val="009E73"/>
                </a:solidFill>
                <a:latin typeface="Arial"/>
              </a:rPr>
              <a:t>prepared next segment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320040" y="537667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1200" b="1">
                <a:solidFill>
                  <a:srgbClr val="D55E00"/>
                </a:solidFill>
                <a:latin typeface="Arial"/>
              </a:rPr>
              <a:t>feedback</a:t>
            </a:r>
          </a:p>
          <a:p>
            <a:pPr algn="l"/>
            <a:r>
              <a:rPr lang="en-US" sz="1200" b="1">
                <a:solidFill>
                  <a:srgbClr val="D55E00"/>
                </a:solidFill>
                <a:latin typeface="Arial"/>
              </a:rPr>
              <a:t>state</a:t>
            </a:r>
          </a:p>
        </p:txBody>
      </p:sp>
      <p:sp>
        <p:nvSpPr>
          <p:cNvPr id="120" name="Block"/>
          <p:cNvSpPr/>
          <p:nvPr/>
        </p:nvSpPr>
        <p:spPr>
          <a:xfrm>
            <a:off x="3794760" y="5532120"/>
            <a:ext cx="1325880" cy="438912"/>
          </a:xfrm>
          <a:prstGeom prst="roundRect">
            <a:avLst/>
          </a:prstGeom>
          <a:solidFill>
            <a:srgbClr val="FFF1E6"/>
          </a:solidFill>
          <a:ln w="19050">
            <a:solidFill>
              <a:srgbClr val="D55E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60" b="1">
                <a:solidFill>
                  <a:srgbClr val="222222"/>
                </a:solidFill>
                <a:latin typeface="Arial"/>
              </a:rPr>
              <a:t>visual feedback</a:t>
            </a:r>
          </a:p>
          <a:p>
            <a:pPr algn="ctr"/>
            <a:r>
              <a:rPr lang="en-US" sz="760" b="1">
                <a:solidFill>
                  <a:srgbClr val="222222"/>
                </a:solidFill>
                <a:latin typeface="Arial"/>
              </a:rPr>
              <a:t>at chunk start</a:t>
            </a:r>
          </a:p>
        </p:txBody>
      </p:sp>
      <p:sp>
        <p:nvSpPr>
          <p:cNvPr id="121" name="Block"/>
          <p:cNvSpPr/>
          <p:nvPr/>
        </p:nvSpPr>
        <p:spPr>
          <a:xfrm>
            <a:off x="5440680" y="5532120"/>
            <a:ext cx="2194560" cy="438912"/>
          </a:xfrm>
          <a:prstGeom prst="roundRect">
            <a:avLst/>
          </a:prstGeom>
          <a:solidFill>
            <a:srgbClr val="FFF1E6"/>
          </a:solidFill>
          <a:ln w="19050">
            <a:solidFill>
              <a:srgbClr val="D55E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middle steps use</a:t>
            </a:r>
          </a:p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stale feedback</a:t>
            </a:r>
          </a:p>
        </p:txBody>
      </p:sp>
      <p:sp>
        <p:nvSpPr>
          <p:cNvPr id="122" name="Block"/>
          <p:cNvSpPr/>
          <p:nvPr/>
        </p:nvSpPr>
        <p:spPr>
          <a:xfrm>
            <a:off x="8001000" y="5532120"/>
            <a:ext cx="1417320" cy="438912"/>
          </a:xfrm>
          <a:prstGeom prst="roundRect">
            <a:avLst/>
          </a:prstGeom>
          <a:solidFill>
            <a:srgbClr val="FFF1E6"/>
          </a:solidFill>
          <a:ln w="19050">
            <a:solidFill>
              <a:srgbClr val="D55E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60" b="1">
                <a:solidFill>
                  <a:srgbClr val="222222"/>
                </a:solidFill>
                <a:latin typeface="Arial"/>
              </a:rPr>
              <a:t>local mismatch</a:t>
            </a:r>
          </a:p>
          <a:p>
            <a:pPr algn="ctr"/>
            <a:r>
              <a:rPr lang="en-US" sz="760" b="1">
                <a:solidFill>
                  <a:srgbClr val="222222"/>
                </a:solidFill>
                <a:latin typeface="Arial"/>
              </a:rPr>
              <a:t>can grow</a:t>
            </a:r>
          </a:p>
        </p:txBody>
      </p:sp>
      <p:cxnSp>
        <p:nvCxnSpPr>
          <p:cNvPr id="123" name="Line"/>
          <p:cNvCxnSpPr/>
          <p:nvPr/>
        </p:nvCxnSpPr>
        <p:spPr>
          <a:xfrm>
            <a:off x="5120640" y="5751576"/>
            <a:ext cx="292608" cy="914"/>
          </a:xfrm>
          <a:prstGeom prst="line">
            <a:avLst/>
          </a:prstGeom>
          <a:ln w="13970">
            <a:solidFill>
              <a:srgbClr val="D55E00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124" name="Line"/>
          <p:cNvCxnSpPr/>
          <p:nvPr/>
        </p:nvCxnSpPr>
        <p:spPr>
          <a:xfrm>
            <a:off x="7635240" y="5751576"/>
            <a:ext cx="338328" cy="914"/>
          </a:xfrm>
          <a:prstGeom prst="line">
            <a:avLst/>
          </a:prstGeom>
          <a:ln w="13970">
            <a:solidFill>
              <a:srgbClr val="D55E00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125" name="Line"/>
          <p:cNvCxnSpPr/>
          <p:nvPr/>
        </p:nvCxnSpPr>
        <p:spPr>
          <a:xfrm>
            <a:off x="475488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26" name="Line"/>
          <p:cNvCxnSpPr/>
          <p:nvPr/>
        </p:nvCxnSpPr>
        <p:spPr>
          <a:xfrm>
            <a:off x="530352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27" name="Line"/>
          <p:cNvCxnSpPr/>
          <p:nvPr/>
        </p:nvCxnSpPr>
        <p:spPr>
          <a:xfrm>
            <a:off x="585216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28" name="Line"/>
          <p:cNvCxnSpPr/>
          <p:nvPr/>
        </p:nvCxnSpPr>
        <p:spPr>
          <a:xfrm>
            <a:off x="640080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29" name="Line"/>
          <p:cNvCxnSpPr/>
          <p:nvPr/>
        </p:nvCxnSpPr>
        <p:spPr>
          <a:xfrm>
            <a:off x="768096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30" name="Line"/>
          <p:cNvCxnSpPr/>
          <p:nvPr/>
        </p:nvCxnSpPr>
        <p:spPr>
          <a:xfrm>
            <a:off x="822960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31" name="Line"/>
          <p:cNvCxnSpPr/>
          <p:nvPr/>
        </p:nvCxnSpPr>
        <p:spPr>
          <a:xfrm>
            <a:off x="877824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cxnSp>
        <p:nvCxnSpPr>
          <p:cNvPr id="132" name="Line"/>
          <p:cNvCxnSpPr/>
          <p:nvPr/>
        </p:nvCxnSpPr>
        <p:spPr>
          <a:xfrm>
            <a:off x="9326880" y="5074920"/>
            <a:ext cx="914" cy="292608"/>
          </a:xfrm>
          <a:prstGeom prst="line">
            <a:avLst/>
          </a:prstGeom>
          <a:ln w="8890">
            <a:solidFill>
              <a:srgbClr val="B8B8B8"/>
            </a:solidFill>
          </a:ln>
        </p:spPr>
        <p:style/>
        <p:txBody>
          <a:bodyPr/>
          <a:lstStyle/>
          <a:p/>
        </p:txBody>
      </p:cxnSp>
      <p:sp>
        <p:nvSpPr>
          <p:cNvPr id="133" name="legend"/>
          <p:cNvSpPr/>
          <p:nvPr/>
        </p:nvSpPr>
        <p:spPr>
          <a:xfrm>
            <a:off x="9372600" y="969264"/>
            <a:ext cx="23317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34" name="Text"/>
          <p:cNvSpPr txBox="1"/>
          <p:nvPr/>
        </p:nvSpPr>
        <p:spPr>
          <a:xfrm>
            <a:off x="9491472" y="1097280"/>
            <a:ext cx="256032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 b="1">
                <a:solidFill>
                  <a:srgbClr val="222222"/>
                </a:solidFill>
                <a:latin typeface="Arial"/>
              </a:rPr>
              <a:t>H: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9756648" y="1097280"/>
            <a:ext cx="1691640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>
                <a:solidFill>
                  <a:srgbClr val="666666"/>
                </a:solidFill>
                <a:latin typeface="Arial"/>
              </a:rPr>
              <a:t>planned action horizon</a:t>
            </a:r>
          </a:p>
        </p:txBody>
      </p:sp>
      <p:sp>
        <p:nvSpPr>
          <p:cNvPr id="136" name="Text"/>
          <p:cNvSpPr txBox="1"/>
          <p:nvPr/>
        </p:nvSpPr>
        <p:spPr>
          <a:xfrm>
            <a:off x="9491472" y="1307592"/>
            <a:ext cx="256032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 b="1">
                <a:solidFill>
                  <a:srgbClr val="222222"/>
                </a:solidFill>
                <a:latin typeface="Arial"/>
              </a:rPr>
              <a:t>e:</a:t>
            </a:r>
          </a:p>
        </p:txBody>
      </p:sp>
      <p:sp>
        <p:nvSpPr>
          <p:cNvPr id="137" name="Text"/>
          <p:cNvSpPr txBox="1"/>
          <p:nvPr/>
        </p:nvSpPr>
        <p:spPr>
          <a:xfrm>
            <a:off x="9756648" y="1307592"/>
            <a:ext cx="1691640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>
                <a:solidFill>
                  <a:srgbClr val="666666"/>
                </a:solidFill>
                <a:latin typeface="Arial"/>
              </a:rPr>
              <a:t>open-loop steps executed</a:t>
            </a:r>
          </a:p>
        </p:txBody>
      </p:sp>
      <p:sp>
        <p:nvSpPr>
          <p:cNvPr id="138" name="Text"/>
          <p:cNvSpPr txBox="1"/>
          <p:nvPr/>
        </p:nvSpPr>
        <p:spPr>
          <a:xfrm>
            <a:off x="9491472" y="1517904"/>
            <a:ext cx="256032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 b="1">
                <a:solidFill>
                  <a:srgbClr val="222222"/>
                </a:solidFill>
                <a:latin typeface="Arial"/>
              </a:rPr>
              <a:t>K:</a:t>
            </a:r>
          </a:p>
        </p:txBody>
      </p:sp>
      <p:sp>
        <p:nvSpPr>
          <p:cNvPr id="139" name="Text"/>
          <p:cNvSpPr txBox="1"/>
          <p:nvPr/>
        </p:nvSpPr>
        <p:spPr>
          <a:xfrm>
            <a:off x="9756648" y="1517904"/>
            <a:ext cx="1691640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>
                <a:solidFill>
                  <a:srgbClr val="666666"/>
                </a:solidFill>
                <a:latin typeface="Arial"/>
              </a:rPr>
              <a:t>time between replans</a:t>
            </a:r>
          </a:p>
        </p:txBody>
      </p:sp>
      <p:sp>
        <p:nvSpPr>
          <p:cNvPr id="140" name="Text"/>
          <p:cNvSpPr txBox="1"/>
          <p:nvPr/>
        </p:nvSpPr>
        <p:spPr>
          <a:xfrm>
            <a:off x="9491472" y="1728216"/>
            <a:ext cx="256032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 b="1">
                <a:solidFill>
                  <a:srgbClr val="222222"/>
                </a:solidFill>
                <a:latin typeface="Arial"/>
              </a:rPr>
              <a:t>d:</a:t>
            </a:r>
          </a:p>
        </p:txBody>
      </p:sp>
      <p:sp>
        <p:nvSpPr>
          <p:cNvPr id="141" name="Text"/>
          <p:cNvSpPr txBox="1"/>
          <p:nvPr/>
        </p:nvSpPr>
        <p:spPr>
          <a:xfrm>
            <a:off x="9756648" y="1728216"/>
            <a:ext cx="1691640" cy="13716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819">
                <a:solidFill>
                  <a:srgbClr val="666666"/>
                </a:solidFill>
                <a:latin typeface="Arial"/>
              </a:rPr>
              <a:t>SmolVLA compute delay</a:t>
            </a:r>
          </a:p>
        </p:txBody>
      </p:sp>
      <p:sp>
        <p:nvSpPr>
          <p:cNvPr id="142" name="Text"/>
          <p:cNvSpPr txBox="1"/>
          <p:nvPr/>
        </p:nvSpPr>
        <p:spPr>
          <a:xfrm>
            <a:off x="9372600" y="6355080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r"/>
            <a:r>
              <a:rPr lang="en-US" sz="750">
                <a:solidFill>
                  <a:srgbClr val="666666"/>
                </a:solidFill>
                <a:latin typeface="Arial"/>
              </a:rPr>
              <a:t>All elements are editable PowerPoint shapes.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320040" y="164592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/>
              </a:rPr>
              <a:t>HFRVLA architecture: slow chunk, fast wrist residual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320040" y="50292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919">
                <a:solidFill>
                  <a:srgbClr val="666666"/>
                </a:solidFill>
                <a:latin typeface="Arial"/>
              </a:rPr>
              <a:t>Frozen SmolVLA proposes a base action chunk; a trainable wrist residual corrects the selected action before robot control.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11480" y="9326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919" b="1">
                <a:solidFill>
                  <a:srgbClr val="0072B2"/>
                </a:solidFill>
                <a:latin typeface="Arial"/>
              </a:rPr>
              <a:t>low-frequency slow planner</a:t>
            </a:r>
          </a:p>
        </p:txBody>
      </p:sp>
      <p:sp>
        <p:nvSpPr>
          <p:cNvPr id="5" name="Block"/>
          <p:cNvSpPr/>
          <p:nvPr/>
        </p:nvSpPr>
        <p:spPr>
          <a:xfrm>
            <a:off x="411480" y="1207008"/>
            <a:ext cx="1097280" cy="457200"/>
          </a:xfrm>
          <a:prstGeom prst="roundRect">
            <a:avLst/>
          </a:prstGeom>
          <a:solidFill>
            <a:srgbClr val="EEF5FB"/>
          </a:solidFill>
          <a:ln w="1778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19" b="1">
                <a:solidFill>
                  <a:srgbClr val="222222"/>
                </a:solidFill>
                <a:latin typeface="Arial"/>
              </a:rPr>
              <a:t>language</a:t>
            </a:r>
          </a:p>
          <a:p>
            <a:pPr algn="ctr"/>
            <a:r>
              <a:rPr lang="en-US" sz="819" b="1">
                <a:solidFill>
                  <a:srgbClr val="222222"/>
                </a:solidFill>
                <a:latin typeface="Arial"/>
              </a:rPr>
              <a:t>instruction</a:t>
            </a:r>
          </a:p>
        </p:txBody>
      </p:sp>
      <p:sp>
        <p:nvSpPr>
          <p:cNvPr id="6" name="Block"/>
          <p:cNvSpPr/>
          <p:nvPr/>
        </p:nvSpPr>
        <p:spPr>
          <a:xfrm>
            <a:off x="411480" y="1883664"/>
            <a:ext cx="1234440" cy="658368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777777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top RGB</a:t>
            </a:r>
          </a:p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wrist RGB</a:t>
            </a:r>
          </a:p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+ state</a:t>
            </a:r>
          </a:p>
        </p:txBody>
      </p:sp>
      <p:sp>
        <p:nvSpPr>
          <p:cNvPr id="7" name="Block"/>
          <p:cNvSpPr/>
          <p:nvPr/>
        </p:nvSpPr>
        <p:spPr>
          <a:xfrm>
            <a:off x="2148840" y="1536192"/>
            <a:ext cx="1874520" cy="859536"/>
          </a:xfrm>
          <a:prstGeom prst="roundRect">
            <a:avLst/>
          </a:prstGeom>
          <a:solidFill>
            <a:srgbClr val="DBEAFE"/>
          </a:solidFill>
          <a:ln w="2159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Frozen SmolVLA</a:t>
            </a:r>
          </a:p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VLM + action expert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212848" y="2423160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720" b="1">
                <a:solidFill>
                  <a:srgbClr val="0072B2"/>
                </a:solidFill>
                <a:latin typeface="Arial"/>
              </a:rPr>
              <a:t>frozen slow planner</a:t>
            </a:r>
          </a:p>
        </p:txBody>
      </p:sp>
      <p:sp>
        <p:nvSpPr>
          <p:cNvPr id="9" name="Block"/>
          <p:cNvSpPr/>
          <p:nvPr/>
        </p:nvSpPr>
        <p:spPr>
          <a:xfrm>
            <a:off x="4526280" y="1234440"/>
            <a:ext cx="13716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40" b="1">
                <a:solidFill>
                  <a:srgbClr val="222222"/>
                </a:solidFill>
                <a:latin typeface="Arial"/>
              </a:rPr>
              <a:t>base action</a:t>
            </a:r>
          </a:p>
          <a:p>
            <a:pPr algn="ctr"/>
            <a:r>
              <a:rPr lang="en-US" sz="840" b="1">
                <a:solidFill>
                  <a:srgbClr val="222222"/>
                </a:solidFill>
                <a:latin typeface="Arial"/>
              </a:rPr>
              <a:t>chunk</a:t>
            </a:r>
          </a:p>
        </p:txBody>
      </p:sp>
      <p:sp>
        <p:nvSpPr>
          <p:cNvPr id="10" name="Block"/>
          <p:cNvSpPr/>
          <p:nvPr/>
        </p:nvSpPr>
        <p:spPr>
          <a:xfrm>
            <a:off x="4526280" y="1975104"/>
            <a:ext cx="1371600" cy="45720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E69F00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slow context</a:t>
            </a:r>
          </a:p>
          <a:p>
            <a:pPr algn="ctr"/>
            <a:r>
              <a:rPr lang="en-US" sz="800" b="1">
                <a:solidFill>
                  <a:srgbClr val="222222"/>
                </a:solidFill>
                <a:latin typeface="Arial"/>
              </a:rPr>
              <a:t>+ chunk index</a:t>
            </a:r>
          </a:p>
        </p:txBody>
      </p:sp>
      <p:cxnSp>
        <p:nvCxnSpPr>
          <p:cNvPr id="11" name="Line"/>
          <p:cNvCxnSpPr/>
          <p:nvPr/>
        </p:nvCxnSpPr>
        <p:spPr>
          <a:xfrm>
            <a:off x="1517904" y="1435608"/>
            <a:ext cx="630936" cy="320040"/>
          </a:xfrm>
          <a:prstGeom prst="line">
            <a:avLst/>
          </a:prstGeom>
          <a:ln w="13970">
            <a:solidFill>
              <a:srgbClr val="0072B2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12" name="Line"/>
          <p:cNvCxnSpPr/>
          <p:nvPr/>
        </p:nvCxnSpPr>
        <p:spPr>
          <a:xfrm flipV="1">
            <a:off x="1655064" y="2029968"/>
            <a:ext cx="493776" cy="182880"/>
          </a:xfrm>
          <a:prstGeom prst="line">
            <a:avLst/>
          </a:prstGeom>
          <a:ln w="12700">
            <a:solidFill>
              <a:srgbClr val="777777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13" name="Line"/>
          <p:cNvCxnSpPr/>
          <p:nvPr/>
        </p:nvCxnSpPr>
        <p:spPr>
          <a:xfrm flipV="1">
            <a:off x="4023360" y="1453896"/>
            <a:ext cx="502920" cy="310896"/>
          </a:xfrm>
          <a:prstGeom prst="line">
            <a:avLst/>
          </a:prstGeom>
          <a:ln w="13970">
            <a:solidFill>
              <a:srgbClr val="0072B2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14" name="Line"/>
          <p:cNvCxnSpPr/>
          <p:nvPr/>
        </p:nvCxnSpPr>
        <p:spPr>
          <a:xfrm>
            <a:off x="4023360" y="2029968"/>
            <a:ext cx="502920" cy="146304"/>
          </a:xfrm>
          <a:prstGeom prst="line">
            <a:avLst/>
          </a:prstGeom>
          <a:ln w="12700">
            <a:solidFill>
              <a:srgbClr val="E69F00"/>
            </a:solidFill>
            <a:tailEnd type="triangle"/>
          </a:ln>
        </p:spPr>
        <p:style/>
        <p:txBody>
          <a:bodyPr/>
          <a:lstStyle/>
          <a:p/>
        </p:txBody>
      </p:cxnSp>
      <p:sp>
        <p:nvSpPr>
          <p:cNvPr id="15" name="action cell"/>
          <p:cNvSpPr/>
          <p:nvPr/>
        </p:nvSpPr>
        <p:spPr>
          <a:xfrm>
            <a:off x="64008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16" name="action cell"/>
          <p:cNvSpPr/>
          <p:nvPr/>
        </p:nvSpPr>
        <p:spPr>
          <a:xfrm>
            <a:off x="66294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17" name="action cell"/>
          <p:cNvSpPr/>
          <p:nvPr/>
        </p:nvSpPr>
        <p:spPr>
          <a:xfrm>
            <a:off x="68580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18" name="action cell"/>
          <p:cNvSpPr/>
          <p:nvPr/>
        </p:nvSpPr>
        <p:spPr>
          <a:xfrm>
            <a:off x="70866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19" name="action cell"/>
          <p:cNvSpPr/>
          <p:nvPr/>
        </p:nvSpPr>
        <p:spPr>
          <a:xfrm>
            <a:off x="73152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20" name="action cell"/>
          <p:cNvSpPr/>
          <p:nvPr/>
        </p:nvSpPr>
        <p:spPr>
          <a:xfrm>
            <a:off x="75438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21" name="action cell"/>
          <p:cNvSpPr/>
          <p:nvPr/>
        </p:nvSpPr>
        <p:spPr>
          <a:xfrm>
            <a:off x="77724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22" name="action cell"/>
          <p:cNvSpPr/>
          <p:nvPr/>
        </p:nvSpPr>
        <p:spPr>
          <a:xfrm>
            <a:off x="8001000" y="1298448"/>
            <a:ext cx="228600" cy="201168"/>
          </a:xfrm>
          <a:prstGeom prst="rect">
            <a:avLst/>
          </a:prstGeom>
          <a:solidFill>
            <a:srgbClr val="F2F7FD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23" name="Block"/>
          <p:cNvSpPr/>
          <p:nvPr/>
        </p:nvSpPr>
        <p:spPr>
          <a:xfrm>
            <a:off x="6400800" y="1298448"/>
            <a:ext cx="228600" cy="201168"/>
          </a:xfrm>
          <a:prstGeom prst="rect">
            <a:avLst/>
          </a:prstGeom>
          <a:solidFill>
            <a:srgbClr val="DFF1DF"/>
          </a:solidFill>
          <a:ln w="8890">
            <a:solidFill>
              <a:srgbClr val="0072B2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6428232" y="10332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00" b="1">
                <a:solidFill>
                  <a:srgbClr val="0072B2"/>
                </a:solidFill>
                <a:latin typeface="Arial"/>
              </a:rPr>
              <a:t>queued base actions</a:t>
            </a:r>
          </a:p>
        </p:txBody>
      </p:sp>
      <p:sp>
        <p:nvSpPr>
          <p:cNvPr id="25" name="Block"/>
          <p:cNvSpPr/>
          <p:nvPr/>
        </p:nvSpPr>
        <p:spPr>
          <a:xfrm>
            <a:off x="6720840" y="1901952"/>
            <a:ext cx="1325880" cy="4389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19" b="1">
                <a:solidFill>
                  <a:srgbClr val="222222"/>
                </a:solidFill>
                <a:latin typeface="Arial"/>
              </a:rPr>
              <a:t>selected</a:t>
            </a:r>
          </a:p>
          <a:p>
            <a:pPr algn="ctr"/>
            <a:r>
              <a:rPr lang="en-US" sz="819" b="1">
                <a:solidFill>
                  <a:srgbClr val="222222"/>
                </a:solidFill>
                <a:latin typeface="Arial"/>
              </a:rPr>
              <a:t>base action</a:t>
            </a:r>
          </a:p>
        </p:txBody>
      </p:sp>
      <p:cxnSp>
        <p:nvCxnSpPr>
          <p:cNvPr id="26" name="Line"/>
          <p:cNvCxnSpPr/>
          <p:nvPr/>
        </p:nvCxnSpPr>
        <p:spPr>
          <a:xfrm flipV="1">
            <a:off x="5897880" y="1399032"/>
            <a:ext cx="502920" cy="45720"/>
          </a:xfrm>
          <a:prstGeom prst="line">
            <a:avLst/>
          </a:prstGeom>
          <a:ln w="12700">
            <a:solidFill>
              <a:srgbClr val="0072B2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27" name="Line"/>
          <p:cNvCxnSpPr/>
          <p:nvPr/>
        </p:nvCxnSpPr>
        <p:spPr>
          <a:xfrm>
            <a:off x="6565392" y="1499616"/>
            <a:ext cx="612648" cy="402336"/>
          </a:xfrm>
          <a:prstGeom prst="line">
            <a:avLst/>
          </a:prstGeom>
          <a:ln w="12700">
            <a:solidFill>
              <a:srgbClr val="0072B2"/>
            </a:solidFill>
            <a:tailEnd type="triangle"/>
          </a:ln>
        </p:spPr>
        <p:style/>
        <p:txBody>
          <a:bodyPr/>
          <a:lstStyle/>
          <a:p/>
        </p:txBody>
      </p:cxnSp>
      <p:sp>
        <p:nvSpPr>
          <p:cNvPr id="28" name="Text"/>
          <p:cNvSpPr txBox="1"/>
          <p:nvPr/>
        </p:nvSpPr>
        <p:spPr>
          <a:xfrm>
            <a:off x="411480" y="2990088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919" b="1">
                <a:solidFill>
                  <a:srgbClr val="009E73"/>
                </a:solidFill>
                <a:latin typeface="Arial"/>
              </a:rPr>
              <a:t>high-frequency wrist correction</a:t>
            </a:r>
          </a:p>
        </p:txBody>
      </p:sp>
      <p:sp>
        <p:nvSpPr>
          <p:cNvPr id="29" name="Block"/>
          <p:cNvSpPr/>
          <p:nvPr/>
        </p:nvSpPr>
        <p:spPr>
          <a:xfrm>
            <a:off x="411480" y="3273552"/>
            <a:ext cx="1115568" cy="475488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60" b="1">
                <a:solidFill>
                  <a:srgbClr val="222222"/>
                </a:solidFill>
                <a:latin typeface="Arial"/>
              </a:rPr>
              <a:t>current</a:t>
            </a:r>
          </a:p>
          <a:p>
            <a:pPr algn="ctr"/>
            <a:r>
              <a:rPr lang="en-US" sz="860" b="1">
                <a:solidFill>
                  <a:srgbClr val="222222"/>
                </a:solidFill>
                <a:latin typeface="Arial"/>
              </a:rPr>
              <a:t>wrist view</a:t>
            </a:r>
          </a:p>
        </p:txBody>
      </p:sp>
      <p:sp>
        <p:nvSpPr>
          <p:cNvPr id="30" name="Block"/>
          <p:cNvSpPr/>
          <p:nvPr/>
        </p:nvSpPr>
        <p:spPr>
          <a:xfrm>
            <a:off x="1993392" y="3200400"/>
            <a:ext cx="1572768" cy="603504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80" b="1">
                <a:solidFill>
                  <a:srgbClr val="222222"/>
                </a:solidFill>
                <a:latin typeface="Arial"/>
              </a:rPr>
              <a:t>Frozen DINOv3</a:t>
            </a:r>
          </a:p>
          <a:p>
            <a:pPr algn="ctr"/>
            <a:r>
              <a:rPr lang="en-US" sz="880" b="1">
                <a:solidFill>
                  <a:srgbClr val="222222"/>
                </a:solidFill>
                <a:latin typeface="Arial"/>
              </a:rPr>
              <a:t>wrist patches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2057400" y="3822192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l"/>
            <a:r>
              <a:rPr lang="en-US" sz="700" b="1">
                <a:solidFill>
                  <a:srgbClr val="009E73"/>
                </a:solidFill>
                <a:latin typeface="Arial"/>
              </a:rPr>
              <a:t>frozen feature extractor</a:t>
            </a:r>
          </a:p>
        </p:txBody>
      </p:sp>
      <p:sp>
        <p:nvSpPr>
          <p:cNvPr id="32" name="Block"/>
          <p:cNvSpPr/>
          <p:nvPr/>
        </p:nvSpPr>
        <p:spPr>
          <a:xfrm>
            <a:off x="4480560" y="3054096"/>
            <a:ext cx="1874520" cy="859536"/>
          </a:xfrm>
          <a:prstGeom prst="roundRect">
            <a:avLst/>
          </a:prstGeom>
          <a:solidFill>
            <a:srgbClr val="DFF3E9"/>
          </a:solidFill>
          <a:ln w="2286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Trainable fast</a:t>
            </a:r>
          </a:p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wrist residual</a:t>
            </a:r>
          </a:p>
          <a:p>
            <a:pPr algn="ctr"/>
            <a:r>
              <a:rPr lang="en-US" sz="1000" b="1">
                <a:solidFill>
                  <a:srgbClr val="222222"/>
                </a:solidFill>
                <a:latin typeface="Arial"/>
              </a:rPr>
              <a:t>module</a:t>
            </a:r>
          </a:p>
        </p:txBody>
      </p:sp>
      <p:sp>
        <p:nvSpPr>
          <p:cNvPr id="33" name="Block"/>
          <p:cNvSpPr/>
          <p:nvPr/>
        </p:nvSpPr>
        <p:spPr>
          <a:xfrm>
            <a:off x="4343400" y="4206240"/>
            <a:ext cx="731520" cy="32918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77777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19" b="1">
                <a:solidFill>
                  <a:srgbClr val="222222"/>
                </a:solidFill>
                <a:latin typeface="Arial"/>
              </a:rPr>
              <a:t>state</a:t>
            </a:r>
          </a:p>
        </p:txBody>
      </p:sp>
      <p:cxnSp>
        <p:nvCxnSpPr>
          <p:cNvPr id="34" name="Line"/>
          <p:cNvCxnSpPr/>
          <p:nvPr/>
        </p:nvCxnSpPr>
        <p:spPr>
          <a:xfrm flipV="1">
            <a:off x="1527048" y="3502152"/>
            <a:ext cx="466344" cy="9144"/>
          </a:xfrm>
          <a:prstGeom prst="line">
            <a:avLst/>
          </a:prstGeom>
          <a:ln w="13970">
            <a:solidFill>
              <a:srgbClr val="009E73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35" name="Line"/>
          <p:cNvCxnSpPr/>
          <p:nvPr/>
        </p:nvCxnSpPr>
        <p:spPr>
          <a:xfrm flipV="1">
            <a:off x="3566160" y="3456432"/>
            <a:ext cx="914400" cy="45720"/>
          </a:xfrm>
          <a:prstGeom prst="line">
            <a:avLst/>
          </a:prstGeom>
          <a:ln w="13970">
            <a:solidFill>
              <a:srgbClr val="009E73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36" name="Line"/>
          <p:cNvCxnSpPr/>
          <p:nvPr/>
        </p:nvCxnSpPr>
        <p:spPr>
          <a:xfrm flipV="1">
            <a:off x="4709160" y="3913632"/>
            <a:ext cx="914" cy="292608"/>
          </a:xfrm>
          <a:prstGeom prst="line">
            <a:avLst/>
          </a:prstGeom>
          <a:ln w="11430">
            <a:solidFill>
              <a:srgbClr val="777777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37" name="Line"/>
          <p:cNvCxnSpPr/>
          <p:nvPr/>
        </p:nvCxnSpPr>
        <p:spPr>
          <a:xfrm flipH="1">
            <a:off x="5074920" y="2212848"/>
            <a:ext cx="822960" cy="841248"/>
          </a:xfrm>
          <a:prstGeom prst="line">
            <a:avLst/>
          </a:prstGeom>
          <a:ln w="12700">
            <a:solidFill>
              <a:srgbClr val="E69F00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38" name="Line"/>
          <p:cNvCxnSpPr/>
          <p:nvPr/>
        </p:nvCxnSpPr>
        <p:spPr>
          <a:xfrm flipH="1">
            <a:off x="5943600" y="2340864"/>
            <a:ext cx="1435608" cy="713232"/>
          </a:xfrm>
          <a:prstGeom prst="line">
            <a:avLst/>
          </a:prstGeom>
          <a:ln w="12700">
            <a:solidFill>
              <a:srgbClr val="0072B2"/>
            </a:solidFill>
            <a:tailEnd type="triangle"/>
          </a:ln>
        </p:spPr>
        <p:style/>
        <p:txBody>
          <a:bodyPr/>
          <a:lstStyle/>
          <a:p/>
        </p:txBody>
      </p:cxnSp>
      <p:sp>
        <p:nvSpPr>
          <p:cNvPr id="39" name="Block"/>
          <p:cNvSpPr/>
          <p:nvPr/>
        </p:nvSpPr>
        <p:spPr>
          <a:xfrm>
            <a:off x="6903720" y="3273552"/>
            <a:ext cx="100584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80" b="1">
                <a:solidFill>
                  <a:srgbClr val="222222"/>
                </a:solidFill>
                <a:latin typeface="Arial"/>
              </a:rPr>
              <a:t>residual</a:t>
            </a:r>
          </a:p>
          <a:p>
            <a:pPr algn="ctr"/>
            <a:r>
              <a:rPr lang="en-US" sz="780" b="1">
                <a:solidFill>
                  <a:srgbClr val="222222"/>
                </a:solidFill>
                <a:latin typeface="Arial"/>
              </a:rPr>
              <a:t>correction</a:t>
            </a:r>
          </a:p>
        </p:txBody>
      </p:sp>
      <p:sp>
        <p:nvSpPr>
          <p:cNvPr id="40" name="Block"/>
          <p:cNvSpPr/>
          <p:nvPr/>
        </p:nvSpPr>
        <p:spPr>
          <a:xfrm>
            <a:off x="8275320" y="3227832"/>
            <a:ext cx="10515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40" b="1">
                <a:solidFill>
                  <a:srgbClr val="222222"/>
                </a:solidFill>
                <a:latin typeface="Arial"/>
              </a:rPr>
              <a:t>clip +</a:t>
            </a:r>
          </a:p>
          <a:p>
            <a:pPr algn="ctr"/>
            <a:r>
              <a:rPr lang="en-US" sz="840" b="1">
                <a:solidFill>
                  <a:srgbClr val="222222"/>
                </a:solidFill>
                <a:latin typeface="Arial"/>
              </a:rPr>
              <a:t>scale</a:t>
            </a:r>
          </a:p>
        </p:txBody>
      </p:sp>
      <p:sp>
        <p:nvSpPr>
          <p:cNvPr id="41" name="Block"/>
          <p:cNvSpPr/>
          <p:nvPr/>
        </p:nvSpPr>
        <p:spPr>
          <a:xfrm>
            <a:off x="9829800" y="3273552"/>
            <a:ext cx="420624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600" b="1">
                <a:solidFill>
                  <a:srgbClr val="222222"/>
                </a:solidFill>
                <a:latin typeface="Arial"/>
              </a:rPr>
              <a:t>+</a:t>
            </a:r>
          </a:p>
        </p:txBody>
      </p:sp>
      <p:sp>
        <p:nvSpPr>
          <p:cNvPr id="42" name="Block"/>
          <p:cNvSpPr/>
          <p:nvPr/>
        </p:nvSpPr>
        <p:spPr>
          <a:xfrm>
            <a:off x="10744200" y="3200400"/>
            <a:ext cx="1051560" cy="585216"/>
          </a:xfrm>
          <a:prstGeom prst="roundRect">
            <a:avLst/>
          </a:prstGeom>
          <a:solidFill>
            <a:srgbClr val="F7F7F7"/>
          </a:solidFill>
          <a:ln w="16510">
            <a:solidFill>
              <a:srgbClr val="22222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900" b="1">
                <a:solidFill>
                  <a:srgbClr val="222222"/>
                </a:solidFill>
                <a:latin typeface="Arial"/>
              </a:rPr>
              <a:t>final</a:t>
            </a:r>
          </a:p>
          <a:p>
            <a:pPr algn="ctr"/>
            <a:r>
              <a:rPr lang="en-US" sz="900" b="1">
                <a:solidFill>
                  <a:srgbClr val="222222"/>
                </a:solidFill>
                <a:latin typeface="Arial"/>
              </a:rPr>
              <a:t>action</a:t>
            </a:r>
          </a:p>
        </p:txBody>
      </p:sp>
      <p:sp>
        <p:nvSpPr>
          <p:cNvPr id="43" name="Block"/>
          <p:cNvSpPr/>
          <p:nvPr/>
        </p:nvSpPr>
        <p:spPr>
          <a:xfrm>
            <a:off x="10744200" y="4572000"/>
            <a:ext cx="1051560" cy="585216"/>
          </a:xfrm>
          <a:prstGeom prst="roundRect">
            <a:avLst/>
          </a:prstGeom>
          <a:solidFill>
            <a:srgbClr val="F5F5F5"/>
          </a:solidFill>
          <a:ln w="16510">
            <a:solidFill>
              <a:srgbClr val="22222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900" b="1">
                <a:solidFill>
                  <a:srgbClr val="222222"/>
                </a:solidFill>
                <a:latin typeface="Arial"/>
              </a:rPr>
              <a:t>control</a:t>
            </a:r>
          </a:p>
          <a:p>
            <a:pPr algn="ctr"/>
            <a:r>
              <a:rPr lang="en-US" sz="900" b="1">
                <a:solidFill>
                  <a:srgbClr val="222222"/>
                </a:solidFill>
                <a:latin typeface="Arial"/>
              </a:rPr>
              <a:t>robot</a:t>
            </a:r>
          </a:p>
        </p:txBody>
      </p:sp>
      <p:cxnSp>
        <p:nvCxnSpPr>
          <p:cNvPr id="44" name="Line"/>
          <p:cNvCxnSpPr/>
          <p:nvPr/>
        </p:nvCxnSpPr>
        <p:spPr>
          <a:xfrm>
            <a:off x="6355080" y="3474720"/>
            <a:ext cx="548640" cy="36576"/>
          </a:xfrm>
          <a:prstGeom prst="line">
            <a:avLst/>
          </a:prstGeom>
          <a:ln w="15240">
            <a:solidFill>
              <a:srgbClr val="009E73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45" name="Line"/>
          <p:cNvCxnSpPr/>
          <p:nvPr/>
        </p:nvCxnSpPr>
        <p:spPr>
          <a:xfrm>
            <a:off x="7909560" y="3511296"/>
            <a:ext cx="365760" cy="914"/>
          </a:xfrm>
          <a:prstGeom prst="line">
            <a:avLst/>
          </a:prstGeom>
          <a:ln w="13970">
            <a:solidFill>
              <a:srgbClr val="009E73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46" name="Line"/>
          <p:cNvCxnSpPr/>
          <p:nvPr/>
        </p:nvCxnSpPr>
        <p:spPr>
          <a:xfrm>
            <a:off x="9326880" y="3511296"/>
            <a:ext cx="502920" cy="914"/>
          </a:xfrm>
          <a:prstGeom prst="line">
            <a:avLst/>
          </a:prstGeom>
          <a:ln w="13970">
            <a:solidFill>
              <a:srgbClr val="009E73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47" name="Line"/>
          <p:cNvCxnSpPr/>
          <p:nvPr/>
        </p:nvCxnSpPr>
        <p:spPr>
          <a:xfrm>
            <a:off x="8046720" y="2139696"/>
            <a:ext cx="1783080" cy="1271016"/>
          </a:xfrm>
          <a:prstGeom prst="line">
            <a:avLst/>
          </a:prstGeom>
          <a:ln w="12700">
            <a:solidFill>
              <a:srgbClr val="0072B2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48" name="Line"/>
          <p:cNvCxnSpPr/>
          <p:nvPr/>
        </p:nvCxnSpPr>
        <p:spPr>
          <a:xfrm>
            <a:off x="10250424" y="3493008"/>
            <a:ext cx="493776" cy="914"/>
          </a:xfrm>
          <a:prstGeom prst="line">
            <a:avLst/>
          </a:prstGeom>
          <a:ln w="13970">
            <a:solidFill>
              <a:srgbClr val="222222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49" name="Line"/>
          <p:cNvCxnSpPr/>
          <p:nvPr/>
        </p:nvCxnSpPr>
        <p:spPr>
          <a:xfrm>
            <a:off x="11265408" y="3785616"/>
            <a:ext cx="914" cy="786384"/>
          </a:xfrm>
          <a:prstGeom prst="line">
            <a:avLst/>
          </a:prstGeom>
          <a:ln w="13970">
            <a:solidFill>
              <a:srgbClr val="222222"/>
            </a:solidFill>
            <a:tailEnd type="triangle"/>
          </a:ln>
        </p:spPr>
        <p:style/>
        <p:txBody>
          <a:bodyPr/>
          <a:lstStyle/>
          <a:p/>
        </p:txBody>
      </p:cxnSp>
      <p:cxnSp>
        <p:nvCxnSpPr>
          <p:cNvPr id="50" name="Line"/>
          <p:cNvCxnSpPr/>
          <p:nvPr/>
        </p:nvCxnSpPr>
        <p:spPr>
          <a:xfrm flipH="1">
            <a:off x="960120" y="4864608"/>
            <a:ext cx="9784080" cy="914"/>
          </a:xfrm>
          <a:prstGeom prst="line">
            <a:avLst/>
          </a:prstGeom>
          <a:ln w="11430">
            <a:solidFill>
              <a:srgbClr val="009E73"/>
            </a:solidFill>
          </a:ln>
        </p:spPr>
        <p:style/>
        <p:txBody>
          <a:bodyPr/>
          <a:lstStyle/>
          <a:p/>
        </p:txBody>
      </p:cxnSp>
      <p:cxnSp>
        <p:nvCxnSpPr>
          <p:cNvPr id="51" name="Line"/>
          <p:cNvCxnSpPr/>
          <p:nvPr/>
        </p:nvCxnSpPr>
        <p:spPr>
          <a:xfrm flipV="1">
            <a:off x="960120" y="3749040"/>
            <a:ext cx="914" cy="1115568"/>
          </a:xfrm>
          <a:prstGeom prst="line">
            <a:avLst/>
          </a:prstGeom>
          <a:ln w="11430">
            <a:solidFill>
              <a:srgbClr val="009E73"/>
            </a:solidFill>
            <a:tailEnd type="triangle"/>
          </a:ln>
        </p:spPr>
        <p:style/>
        <p:txBody>
          <a:bodyPr/>
          <a:lstStyle/>
          <a:p/>
        </p:txBody>
      </p:cxnSp>
      <p:sp>
        <p:nvSpPr>
          <p:cNvPr id="52" name="Text"/>
          <p:cNvSpPr txBox="1"/>
          <p:nvPr/>
        </p:nvSpPr>
        <p:spPr>
          <a:xfrm>
            <a:off x="3566160" y="4919472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800" b="1">
                <a:solidFill>
                  <a:srgbClr val="009E73"/>
                </a:solidFill>
                <a:latin typeface="Arial"/>
              </a:rPr>
              <a:t>current wrist feedback supplies per-step local evidence</a:t>
            </a:r>
          </a:p>
        </p:txBody>
      </p:sp>
      <p:sp>
        <p:nvSpPr>
          <p:cNvPr id="53" name="Block"/>
          <p:cNvSpPr/>
          <p:nvPr/>
        </p:nvSpPr>
        <p:spPr>
          <a:xfrm>
            <a:off x="6446520" y="5193792"/>
            <a:ext cx="3246120" cy="4754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1019" b="1">
                <a:solidFill>
                  <a:srgbClr val="222222"/>
                </a:solidFill>
                <a:latin typeface="Arial"/>
              </a:rPr>
              <a:t>a_final = a_base + alpha * clip(delta_a)</a:t>
            </a:r>
          </a:p>
        </p:txBody>
      </p:sp>
      <p:sp>
        <p:nvSpPr>
          <p:cNvPr id="54" name="Block"/>
          <p:cNvSpPr/>
          <p:nvPr/>
        </p:nvSpPr>
        <p:spPr>
          <a:xfrm>
            <a:off x="411480" y="580644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2B2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70" b="1">
                <a:solidFill>
                  <a:srgbClr val="0072B2"/>
                </a:solidFill>
                <a:latin typeface="Arial"/>
              </a:rPr>
              <a:t>blue/orange: frozen slow context</a:t>
            </a:r>
          </a:p>
        </p:txBody>
      </p:sp>
      <p:sp>
        <p:nvSpPr>
          <p:cNvPr id="55" name="Block"/>
          <p:cNvSpPr/>
          <p:nvPr/>
        </p:nvSpPr>
        <p:spPr>
          <a:xfrm>
            <a:off x="2487168" y="5806440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E73"/>
            </a:solidFill>
          </a:ln>
        </p:spPr>
        <p:txBody>
          <a:bodyPr wrap="square" anchor="mid" lIns="27432" rIns="27432" tIns="27432" bIns="27432"/>
          <a:lstStyle/>
          <a:p>
            <a:pPr algn="ctr"/>
            <a:r>
              <a:rPr lang="en-US" sz="770" b="1">
                <a:solidFill>
                  <a:srgbClr val="009E73"/>
                </a:solidFill>
                <a:latin typeface="Arial"/>
              </a:rPr>
              <a:t>green: trainable fast residual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9189720" y="635508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27432" rIns="27432" tIns="27432" bIns="27432"/>
          <a:lstStyle/>
          <a:p>
            <a:pPr algn="r"/>
            <a:r>
              <a:rPr lang="en-US" sz="750">
                <a:solidFill>
                  <a:srgbClr val="666666"/>
                </a:solidFill>
                <a:latin typeface="Arial"/>
              </a:rPr>
              <a:t>All elements are editable PowerPoint shapes.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FRVLA">
  <a:themeElements>
    <a:clrScheme name="HFRVLA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072B2"/>
      </a:accent1>
      <a:accent2>
        <a:srgbClr val="009E73"/>
      </a:accent2>
      <a:accent3>
        <a:srgbClr val="E69F00"/>
      </a:accent3>
      <a:accent4>
        <a:srgbClr val="D55E00"/>
      </a:accent4>
      <a:accent5>
        <a:srgbClr val="CC79A7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HFRVLA Async Chunk Gantt</dc:title>
  <dc:creator>Codex</dc:creator>
  <dcterms:created xsi:type="dcterms:W3CDTF">2026-06-11T04:58:46Z</dcterms:created>
  <dcterms:modified xsi:type="dcterms:W3CDTF">2026-06-11T04:58:46Z</dcterms:modified>
</cp:coreProperties>
</file>